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-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91440"/>
            <a:ext cx="2103120" cy="85039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45352"/>
            <a:ext cx="9144000" cy="612648"/>
          </a:xfrm>
          <a:prstGeom prst="rect">
            <a:avLst/>
          </a:prstGeom>
          <a:gradFill rotWithShape="1">
            <a:gsLst>
              <a:gs pos="0">
                <a:srgbClr val="1F3F77"/>
              </a:gs>
              <a:gs pos="100000">
                <a:srgbClr val="E4EBF5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000000"/>
                </a:solidFill>
                <a:latin typeface="Times New Roman"/>
              </a:rPr>
              <a:t>Roomie</a:t>
            </a:r>
          </a:p>
          <a:p>
            <a:pPr algn="ctr"/>
            <a:r>
              <a:rPr sz="2200" b="0" i="1">
                <a:solidFill>
                  <a:srgbClr val="555555"/>
                </a:solidFill>
                <a:latin typeface="Times New Roman"/>
              </a:rPr>
              <a:t>One shared place for roommates to run their household</a:t>
            </a:r>
          </a:p>
          <a:p>
            <a:pPr algn="ctr"/>
            <a:r>
              <a:rPr sz="3200" b="0" i="0">
                <a:solidFill>
                  <a:srgbClr val="000000"/>
                </a:solidFill>
                <a:latin typeface="Times New Roman"/>
              </a:rPr>
              <a:t>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71800"/>
            <a:ext cx="8229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</a:rPr>
              <a:t>CSE 115A, UC Santa Cruz, Fall 2026</a:t>
            </a:r>
          </a:p>
          <a:p>
            <a:pPr marL="0" indent="0">
              <a:spcAft>
                <a:spcPts val="400"/>
              </a:spcAft>
              <a:buNone/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marL="0" indent="0">
              <a:spcAft>
                <a:spcPts val="400"/>
              </a:spcAft>
              <a:buNone/>
            </a:pPr>
            <a:r>
              <a:rPr sz="2800" b="0" i="0">
                <a:solidFill>
                  <a:srgbClr val="000000"/>
                </a:solidFill>
                <a:latin typeface="Times New Roman"/>
              </a:rPr>
              <a:t>Team Roomie</a:t>
            </a:r>
          </a:p>
          <a:p>
            <a:pPr marL="0" indent="0">
              <a:spcAft>
                <a:spcPts val="400"/>
              </a:spcAft>
              <a:buNone/>
            </a:pPr>
            <a:r>
              <a:rPr sz="2200" b="0" i="0">
                <a:solidFill>
                  <a:srgbClr val="000000"/>
                </a:solidFill>
                <a:latin typeface="Times New Roman"/>
              </a:rPr>
              <a:t>Sopeck (frontend), Nikhil and Austin (backend), Jacob and Enoch (database)</a:t>
            </a:r>
          </a:p>
          <a:p>
            <a:pPr marL="411480" indent="0">
              <a:spcAft>
                <a:spcPts val="400"/>
              </a:spcAft>
              <a:buNone/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Product Owner: [name]</a:t>
            </a:r>
          </a:p>
          <a:p>
            <a:pPr marL="411480" indent="0">
              <a:spcAft>
                <a:spcPts val="400"/>
              </a:spcAft>
              <a:buNone/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Initial Scrum Master: [name]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-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91440"/>
            <a:ext cx="2103120" cy="85039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45352"/>
            <a:ext cx="9144000" cy="612648"/>
          </a:xfrm>
          <a:prstGeom prst="rect">
            <a:avLst/>
          </a:prstGeom>
          <a:gradFill rotWithShape="1">
            <a:gsLst>
              <a:gs pos="0">
                <a:srgbClr val="1F3F77"/>
              </a:gs>
              <a:gs pos="100000">
                <a:srgbClr val="E4EBF5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6583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0" i="0">
                <a:solidFill>
                  <a:srgbClr val="000000"/>
                </a:solidFill>
                <a:latin typeface="Times New Roman"/>
              </a:rPr>
              <a:t>Roomie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indent="-320040">
              <a:spcAft>
                <a:spcPts val="1200"/>
              </a:spcAft>
              <a:buFont typeface="Arial"/>
              <a:buChar char="•"/>
            </a:pPr>
            <a:r>
              <a:rPr sz="2400" b="0" i="0">
                <a:solidFill>
                  <a:srgbClr val="000000"/>
                </a:solidFill>
                <a:latin typeface="Times New Roman"/>
              </a:rPr>
              <a:t>Roommates juggle chores, groceries and shared bills across group chats, payment apps and notes, or don't track them at all</a:t>
            </a:r>
          </a:p>
          <a:p>
            <a:pPr marL="731520" indent="-320040">
              <a:spcAft>
                <a:spcPts val="1200"/>
              </a:spcAft>
              <a:buFont typeface="Arial"/>
              <a:buChar char="–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Result: forgotten tasks, uneven workloads and arguments over money</a:t>
            </a:r>
          </a:p>
          <a:p>
            <a:pPr marL="320040" indent="-320040">
              <a:spcAft>
                <a:spcPts val="1200"/>
              </a:spcAft>
              <a:buFont typeface="Arial"/>
              <a:buChar char="•"/>
            </a:pPr>
            <a:r>
              <a:rPr sz="2400" b="1" i="0">
                <a:solidFill>
                  <a:srgbClr val="1F3F77"/>
                </a:solidFill>
                <a:latin typeface="Times New Roman"/>
              </a:rPr>
              <a:t>Who will care? </a:t>
            </a:r>
            <a:r>
              <a:rPr sz="2400" b="0" i="0">
                <a:solidFill>
                  <a:srgbClr val="000000"/>
                </a:solidFill>
                <a:latin typeface="Times New Roman"/>
              </a:rPr>
              <a:t>College students sharing apartments, houses and dorm suites</a:t>
            </a:r>
          </a:p>
          <a:p>
            <a:pPr marL="320040" indent="-320040">
              <a:spcAft>
                <a:spcPts val="1200"/>
              </a:spcAft>
              <a:buFont typeface="Arial"/>
              <a:buChar char="•"/>
            </a:pPr>
            <a:r>
              <a:rPr sz="2400" b="1" i="0">
                <a:solidFill>
                  <a:srgbClr val="1F3F77"/>
                </a:solidFill>
                <a:latin typeface="Times New Roman"/>
              </a:rPr>
              <a:t>Whom will it help? </a:t>
            </a:r>
            <a:r>
              <a:rPr sz="2400" b="0" i="0">
                <a:solidFill>
                  <a:srgbClr val="000000"/>
                </a:solidFill>
                <a:latin typeface="Times New Roman"/>
              </a:rPr>
              <a:t>Every roommate in a household, especially the one who always ends up reminding everyone</a:t>
            </a:r>
          </a:p>
          <a:p>
            <a:pPr marL="320040" indent="-320040">
              <a:spcAft>
                <a:spcPts val="1200"/>
              </a:spcAft>
              <a:buFont typeface="Arial"/>
              <a:buChar char="•"/>
            </a:pPr>
            <a:r>
              <a:rPr sz="2400" b="1" i="0">
                <a:solidFill>
                  <a:srgbClr val="1F3F77"/>
                </a:solidFill>
                <a:latin typeface="Times New Roman"/>
              </a:rPr>
              <a:t>Why? </a:t>
            </a:r>
            <a:r>
              <a:rPr sz="2400" b="0" i="0">
                <a:solidFill>
                  <a:srgbClr val="000000"/>
                </a:solidFill>
                <a:latin typeface="Times New Roman"/>
              </a:rPr>
              <a:t>One shared space makes responsibilities visible, fair and easy to keep up with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-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91440"/>
            <a:ext cx="2103120" cy="85039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45352"/>
            <a:ext cx="9144000" cy="612648"/>
          </a:xfrm>
          <a:prstGeom prst="rect">
            <a:avLst/>
          </a:prstGeom>
          <a:gradFill rotWithShape="1">
            <a:gsLst>
              <a:gs pos="0">
                <a:srgbClr val="1F3F77"/>
              </a:gs>
              <a:gs pos="100000">
                <a:srgbClr val="E4EBF5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6583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0" i="0">
                <a:solidFill>
                  <a:srgbClr val="000000"/>
                </a:solidFill>
                <a:latin typeface="Times New Roman"/>
              </a:rPr>
              <a:t>Why Roomie?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indent="-320040">
              <a:spcAft>
                <a:spcPts val="800"/>
              </a:spcAft>
              <a:buFont typeface="Arial"/>
              <a:buChar char="•"/>
            </a:pPr>
            <a:r>
              <a:rPr sz="2400" b="0" i="0">
                <a:solidFill>
                  <a:srgbClr val="000000"/>
                </a:solidFill>
                <a:latin typeface="Times New Roman"/>
              </a:rPr>
              <a:t>Existing apps each cover one piece of the problem</a:t>
            </a:r>
          </a:p>
          <a:p>
            <a:pPr marL="731520" indent="-320040">
              <a:spcAft>
                <a:spcPts val="800"/>
              </a:spcAft>
              <a:buFont typeface="Arial"/>
              <a:buChar char="–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Splitwise: expenses only</a:t>
            </a:r>
          </a:p>
          <a:p>
            <a:pPr marL="731520" indent="-320040">
              <a:spcAft>
                <a:spcPts val="800"/>
              </a:spcAft>
              <a:buFont typeface="Arial"/>
              <a:buChar char="–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Tody, Sweepy: cleaning schedules for one person or family</a:t>
            </a:r>
          </a:p>
          <a:p>
            <a:pPr marL="731520" indent="-320040">
              <a:spcAft>
                <a:spcPts val="800"/>
              </a:spcAft>
              <a:buFont typeface="Arial"/>
              <a:buChar char="–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OurHome: built for parents assigning chores to kids, not peers</a:t>
            </a:r>
          </a:p>
          <a:p>
            <a:pPr marL="320040" indent="-320040">
              <a:spcAft>
                <a:spcPts val="800"/>
              </a:spcAft>
              <a:buFont typeface="Arial"/>
              <a:buChar char="•"/>
            </a:pPr>
            <a:r>
              <a:rPr sz="2400" b="0" i="0">
                <a:solidFill>
                  <a:srgbClr val="000000"/>
                </a:solidFill>
                <a:latin typeface="Times New Roman"/>
              </a:rPr>
              <a:t>Roomie puts chores, money, groceries and conversation in one app</a:t>
            </a:r>
          </a:p>
          <a:p>
            <a:pPr marL="731520" indent="-320040">
              <a:spcAft>
                <a:spcPts val="800"/>
              </a:spcAft>
              <a:buFont typeface="Arial"/>
              <a:buChar char="–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Household message board at the center: posts can become chores, grocery items or expenses</a:t>
            </a:r>
          </a:p>
          <a:p>
            <a:pPr marL="731520" indent="-320040">
              <a:spcAft>
                <a:spcPts val="800"/>
              </a:spcAft>
              <a:buFont typeface="Arial"/>
              <a:buChar char="–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Automatic chore rotation so the work is shared fairly</a:t>
            </a:r>
          </a:p>
          <a:p>
            <a:pPr marL="731520" indent="-320040">
              <a:spcAft>
                <a:spcPts val="800"/>
              </a:spcAft>
              <a:buFont typeface="Arial"/>
              <a:buChar char="–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Stretch: effort-weighted chores and fairness stats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-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91440"/>
            <a:ext cx="2103120" cy="85039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45352"/>
            <a:ext cx="9144000" cy="612648"/>
          </a:xfrm>
          <a:prstGeom prst="rect">
            <a:avLst/>
          </a:prstGeom>
          <a:gradFill rotWithShape="1">
            <a:gsLst>
              <a:gs pos="0">
                <a:srgbClr val="1F3F77"/>
              </a:gs>
              <a:gs pos="100000">
                <a:srgbClr val="E4EBF5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6583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0" i="0">
                <a:solidFill>
                  <a:srgbClr val="000000"/>
                </a:solidFill>
                <a:latin typeface="Times New Roman"/>
              </a:rPr>
              <a:t>Project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indent="-320040">
              <a:spcAft>
                <a:spcPts val="1000"/>
              </a:spcAft>
              <a:buFont typeface="Arial"/>
              <a:buChar char="•"/>
            </a:pPr>
            <a:r>
              <a:rPr sz="2600" b="0" i="0">
                <a:solidFill>
                  <a:srgbClr val="000000"/>
                </a:solidFill>
                <a:latin typeface="Times New Roman"/>
              </a:rPr>
              <a:t>High-level goals for this release</a:t>
            </a:r>
          </a:p>
          <a:p>
            <a:pPr marL="731520" indent="-320040">
              <a:spcAft>
                <a:spcPts val="1000"/>
              </a:spcAft>
              <a:buFont typeface="Arial"/>
              <a:buChar char="–"/>
            </a:pPr>
            <a:r>
              <a:rPr sz="2200" b="1" i="0">
                <a:solidFill>
                  <a:srgbClr val="1F3F77"/>
                </a:solidFill>
                <a:latin typeface="Times New Roman"/>
              </a:rPr>
              <a:t>G1  Accounts and households: </a:t>
            </a:r>
            <a:r>
              <a:rPr sz="2200" b="0" i="0">
                <a:solidFill>
                  <a:srgbClr val="000000"/>
                </a:solidFill>
                <a:latin typeface="Times New Roman"/>
              </a:rPr>
              <a:t>sign up, create a household, invite and join roommates</a:t>
            </a:r>
          </a:p>
          <a:p>
            <a:pPr marL="731520" indent="-320040">
              <a:spcAft>
                <a:spcPts val="1000"/>
              </a:spcAft>
              <a:buFont typeface="Arial"/>
              <a:buChar char="–"/>
            </a:pPr>
            <a:r>
              <a:rPr sz="2200" b="1" i="0">
                <a:solidFill>
                  <a:srgbClr val="1F3F77"/>
                </a:solidFill>
                <a:latin typeface="Times New Roman"/>
              </a:rPr>
              <a:t>G2  Communication: </a:t>
            </a:r>
            <a:r>
              <a:rPr sz="2200" b="0" i="0">
                <a:solidFill>
                  <a:srgbClr val="000000"/>
                </a:solidFill>
                <a:latin typeface="Times New Roman"/>
              </a:rPr>
              <a:t>a shared household message board</a:t>
            </a:r>
          </a:p>
          <a:p>
            <a:pPr marL="731520" indent="-320040">
              <a:spcAft>
                <a:spcPts val="1000"/>
              </a:spcAft>
              <a:buFont typeface="Arial"/>
              <a:buChar char="–"/>
            </a:pPr>
            <a:r>
              <a:rPr sz="2200" b="1" i="0">
                <a:solidFill>
                  <a:srgbClr val="1F3F77"/>
                </a:solidFill>
                <a:latin typeface="Times New Roman"/>
              </a:rPr>
              <a:t>G3  Chores: </a:t>
            </a:r>
            <a:r>
              <a:rPr sz="2200" b="0" i="0">
                <a:solidFill>
                  <a:srgbClr val="000000"/>
                </a:solidFill>
                <a:latin typeface="Times New Roman"/>
              </a:rPr>
              <a:t>create, assign and automatically rotate chores</a:t>
            </a:r>
          </a:p>
          <a:p>
            <a:pPr marL="731520" indent="-320040">
              <a:spcAft>
                <a:spcPts val="1000"/>
              </a:spcAft>
              <a:buFont typeface="Arial"/>
              <a:buChar char="–"/>
            </a:pPr>
            <a:r>
              <a:rPr sz="2200" b="1" i="0">
                <a:solidFill>
                  <a:srgbClr val="1F3F77"/>
                </a:solidFill>
                <a:latin typeface="Times New Roman"/>
              </a:rPr>
              <a:t>G4  Expenses and groceries: </a:t>
            </a:r>
            <a:r>
              <a:rPr sz="2200" b="0" i="0">
                <a:solidFill>
                  <a:srgbClr val="000000"/>
                </a:solidFill>
                <a:latin typeface="Times New Roman"/>
              </a:rPr>
              <a:t>split costs, see who owes whom, keep a shared grocery list</a:t>
            </a:r>
          </a:p>
          <a:p>
            <a:pPr marL="731520" indent="-320040">
              <a:spcAft>
                <a:spcPts val="1000"/>
              </a:spcAft>
              <a:buFont typeface="Arial"/>
              <a:buChar char="–"/>
            </a:pPr>
            <a:r>
              <a:rPr sz="2200" b="1" i="0">
                <a:solidFill>
                  <a:srgbClr val="1F3F77"/>
                </a:solidFill>
                <a:latin typeface="Times New Roman"/>
              </a:rPr>
              <a:t>G5  Dashboard: </a:t>
            </a:r>
            <a:r>
              <a:rPr sz="2200" b="0" i="0">
                <a:solidFill>
                  <a:srgbClr val="000000"/>
                </a:solidFill>
                <a:latin typeface="Times New Roman"/>
              </a:rPr>
              <a:t>one view of what's due and what's owed</a:t>
            </a:r>
          </a:p>
          <a:p>
            <a:pPr marL="320040" indent="-320040">
              <a:spcAft>
                <a:spcPts val="1000"/>
              </a:spcAft>
              <a:buFont typeface="Arial"/>
              <a:buChar char="•"/>
            </a:pPr>
            <a:r>
              <a:rPr sz="2200" b="0" i="0">
                <a:solidFill>
                  <a:srgbClr val="555555"/>
                </a:solidFill>
                <a:latin typeface="Times New Roman"/>
              </a:rPr>
              <a:t>Delivered as one Expo app for iOS, Android and web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-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91440"/>
            <a:ext cx="2103120" cy="85039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45352"/>
            <a:ext cx="9144000" cy="612648"/>
          </a:xfrm>
          <a:prstGeom prst="rect">
            <a:avLst/>
          </a:prstGeom>
          <a:gradFill rotWithShape="1">
            <a:gsLst>
              <a:gs pos="0">
                <a:srgbClr val="1F3F77"/>
              </a:gs>
              <a:gs pos="100000">
                <a:srgbClr val="E4EBF5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6583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0" i="0">
                <a:solidFill>
                  <a:srgbClr val="000000"/>
                </a:solidFill>
                <a:latin typeface="Times New Roman"/>
              </a:rPr>
              <a:t>Sprint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sz="1800" b="0" i="0">
                <a:solidFill>
                  <a:srgbClr val="555555"/>
                </a:solidFill>
                <a:latin typeface="Times New Roman"/>
              </a:rPr>
              <a:t>Oct 12 to Oct 23</a:t>
            </a:r>
          </a:p>
          <a:p>
            <a:pPr marL="0" indent="0">
              <a:spcAft>
                <a:spcPts val="200"/>
              </a:spcAft>
              <a:buNone/>
            </a:pPr>
            <a:r>
              <a:rPr sz="2200" b="1" i="0">
                <a:solidFill>
                  <a:srgbClr val="1F3F77"/>
                </a:solidFill>
                <a:latin typeface="Times New Roman"/>
              </a:rPr>
              <a:t>User stories</a:t>
            </a:r>
          </a:p>
          <a:p>
            <a:pPr marL="731520" indent="-320040">
              <a:spcAft>
                <a:spcPts val="200"/>
              </a:spcAft>
              <a:buFont typeface="Arial"/>
              <a:buChar char="–"/>
            </a:pPr>
            <a:r>
              <a:rPr sz="1700" b="1" i="0">
                <a:solidFill>
                  <a:srgbClr val="1F3F77"/>
                </a:solidFill>
                <a:latin typeface="Times New Roman"/>
              </a:rPr>
              <a:t>[G1] </a:t>
            </a:r>
            <a:r>
              <a:rPr sz="1700" b="0" i="0">
                <a:solidFill>
                  <a:srgbClr val="000000"/>
                </a:solidFill>
                <a:latin typeface="Times New Roman"/>
              </a:rPr>
              <a:t>Sign up with email and password</a:t>
            </a:r>
          </a:p>
          <a:p>
            <a:pPr marL="731520" indent="-320040">
              <a:spcAft>
                <a:spcPts val="200"/>
              </a:spcAft>
              <a:buFont typeface="Arial"/>
              <a:buChar char="–"/>
            </a:pPr>
            <a:r>
              <a:rPr sz="1700" b="1" i="0">
                <a:solidFill>
                  <a:srgbClr val="1F3F77"/>
                </a:solidFill>
                <a:latin typeface="Times New Roman"/>
              </a:rPr>
              <a:t>[G1] </a:t>
            </a:r>
            <a:r>
              <a:rPr sz="1700" b="0" i="0">
                <a:solidFill>
                  <a:srgbClr val="000000"/>
                </a:solidFill>
                <a:latin typeface="Times New Roman"/>
              </a:rPr>
              <a:t>Log in and log out</a:t>
            </a:r>
          </a:p>
          <a:p>
            <a:pPr marL="731520" indent="-320040">
              <a:spcAft>
                <a:spcPts val="200"/>
              </a:spcAft>
              <a:buFont typeface="Arial"/>
              <a:buChar char="–"/>
            </a:pPr>
            <a:r>
              <a:rPr sz="1700" b="1" i="0">
                <a:solidFill>
                  <a:srgbClr val="1F3F77"/>
                </a:solidFill>
                <a:latin typeface="Times New Roman"/>
              </a:rPr>
              <a:t>[G1] </a:t>
            </a:r>
            <a:r>
              <a:rPr sz="1700" b="0" i="0">
                <a:solidFill>
                  <a:srgbClr val="000000"/>
                </a:solidFill>
                <a:latin typeface="Times New Roman"/>
              </a:rPr>
              <a:t>Create a household</a:t>
            </a:r>
          </a:p>
          <a:p>
            <a:pPr marL="731520" indent="-320040">
              <a:spcAft>
                <a:spcPts val="200"/>
              </a:spcAft>
              <a:buFont typeface="Arial"/>
              <a:buChar char="–"/>
            </a:pPr>
            <a:r>
              <a:rPr sz="1700" b="1" i="0">
                <a:solidFill>
                  <a:srgbClr val="1F3F77"/>
                </a:solidFill>
                <a:latin typeface="Times New Roman"/>
              </a:rPr>
              <a:t>[G2] </a:t>
            </a:r>
            <a:r>
              <a:rPr sz="1700" b="0" i="0">
                <a:solidFill>
                  <a:srgbClr val="000000"/>
                </a:solidFill>
                <a:latin typeface="Times New Roman"/>
              </a:rPr>
              <a:t>Post a message to the household board</a:t>
            </a:r>
          </a:p>
          <a:p>
            <a:pPr marL="731520" indent="-320040">
              <a:spcAft>
                <a:spcPts val="200"/>
              </a:spcAft>
              <a:buFont typeface="Arial"/>
              <a:buChar char="–"/>
            </a:pPr>
            <a:r>
              <a:rPr sz="1700" b="1" i="0">
                <a:solidFill>
                  <a:srgbClr val="1F3F77"/>
                </a:solidFill>
                <a:latin typeface="Times New Roman"/>
              </a:rPr>
              <a:t>[G2] </a:t>
            </a:r>
            <a:r>
              <a:rPr sz="1700" b="0" i="0">
                <a:solidFill>
                  <a:srgbClr val="000000"/>
                </a:solidFill>
                <a:latin typeface="Times New Roman"/>
              </a:rPr>
              <a:t>View the household message board</a:t>
            </a:r>
          </a:p>
          <a:p>
            <a:pPr marL="0" indent="0">
              <a:spcAft>
                <a:spcPts val="200"/>
              </a:spcAft>
              <a:buNone/>
            </a:pPr>
            <a:r>
              <a:rPr sz="2200" b="1" i="0">
                <a:solidFill>
                  <a:srgbClr val="1F3F77"/>
                </a:solidFill>
                <a:latin typeface="Times New Roman"/>
              </a:rPr>
              <a:t>Spikes</a:t>
            </a:r>
          </a:p>
          <a:p>
            <a:pPr marL="731520" indent="-320040">
              <a:spcAft>
                <a:spcPts val="200"/>
              </a:spcAft>
              <a:buFont typeface="Arial"/>
              <a:buChar char="–"/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React Native and Expo basics: each member builds a sample screen</a:t>
            </a:r>
          </a:p>
          <a:p>
            <a:pPr marL="0" indent="0">
              <a:spcAft>
                <a:spcPts val="200"/>
              </a:spcAft>
              <a:buNone/>
            </a:pPr>
            <a:r>
              <a:rPr sz="2200" b="1" i="0">
                <a:solidFill>
                  <a:srgbClr val="1F3F77"/>
                </a:solidFill>
                <a:latin typeface="Times New Roman"/>
              </a:rPr>
              <a:t>Infrastructure tasks</a:t>
            </a:r>
          </a:p>
          <a:p>
            <a:pPr marL="731520" indent="-320040">
              <a:spcAft>
                <a:spcPts val="200"/>
              </a:spcAft>
              <a:buFont typeface="Arial"/>
              <a:buChar char="–"/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Set up the shared repo and Expo app scaffold</a:t>
            </a:r>
          </a:p>
          <a:p>
            <a:pPr marL="731520" indent="-320040">
              <a:spcAft>
                <a:spcPts val="200"/>
              </a:spcAft>
              <a:buFont typeface="Arial"/>
              <a:buChar char="–"/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Set up PostgreSQL and the Node API; design the database schema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-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91440"/>
            <a:ext cx="2103120" cy="85039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45352"/>
            <a:ext cx="9144000" cy="612648"/>
          </a:xfrm>
          <a:prstGeom prst="rect">
            <a:avLst/>
          </a:prstGeom>
          <a:gradFill rotWithShape="1">
            <a:gsLst>
              <a:gs pos="0">
                <a:srgbClr val="1F3F77"/>
              </a:gs>
              <a:gs pos="100000">
                <a:srgbClr val="E4EBF5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6583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0" i="0">
                <a:solidFill>
                  <a:srgbClr val="000000"/>
                </a:solidFill>
                <a:latin typeface="Times New Roman"/>
              </a:rPr>
              <a:t>Sprint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sz="1800" b="0" i="0">
                <a:solidFill>
                  <a:srgbClr val="555555"/>
                </a:solidFill>
                <a:latin typeface="Times New Roman"/>
              </a:rPr>
              <a:t>Oct 26 to Nov 6</a:t>
            </a:r>
          </a:p>
          <a:p>
            <a:pPr marL="0" indent="0">
              <a:spcAft>
                <a:spcPts val="200"/>
              </a:spcAft>
              <a:buNone/>
            </a:pPr>
            <a:r>
              <a:rPr sz="2200" b="1" i="0">
                <a:solidFill>
                  <a:srgbClr val="1F3F77"/>
                </a:solidFill>
                <a:latin typeface="Times New Roman"/>
              </a:rPr>
              <a:t>User stories</a:t>
            </a:r>
          </a:p>
          <a:p>
            <a:pPr marL="731520" indent="-320040">
              <a:spcAft>
                <a:spcPts val="200"/>
              </a:spcAft>
              <a:buFont typeface="Arial"/>
              <a:buChar char="–"/>
            </a:pPr>
            <a:r>
              <a:rPr sz="1700" b="1" i="0">
                <a:solidFill>
                  <a:srgbClr val="1F3F77"/>
                </a:solidFill>
                <a:latin typeface="Times New Roman"/>
              </a:rPr>
              <a:t>[G1] </a:t>
            </a:r>
            <a:r>
              <a:rPr sz="1700" b="0" i="0">
                <a:solidFill>
                  <a:srgbClr val="000000"/>
                </a:solidFill>
                <a:latin typeface="Times New Roman"/>
              </a:rPr>
              <a:t>Invite roommates by link or code</a:t>
            </a:r>
          </a:p>
          <a:p>
            <a:pPr marL="731520" indent="-320040">
              <a:spcAft>
                <a:spcPts val="200"/>
              </a:spcAft>
              <a:buFont typeface="Arial"/>
              <a:buChar char="–"/>
            </a:pPr>
            <a:r>
              <a:rPr sz="1700" b="1" i="0">
                <a:solidFill>
                  <a:srgbClr val="1F3F77"/>
                </a:solidFill>
                <a:latin typeface="Times New Roman"/>
              </a:rPr>
              <a:t>[G1] </a:t>
            </a:r>
            <a:r>
              <a:rPr sz="1700" b="0" i="0">
                <a:solidFill>
                  <a:srgbClr val="000000"/>
                </a:solidFill>
                <a:latin typeface="Times New Roman"/>
              </a:rPr>
              <a:t>Join a household from an invite link</a:t>
            </a:r>
          </a:p>
          <a:p>
            <a:pPr marL="731520" indent="-320040">
              <a:spcAft>
                <a:spcPts val="200"/>
              </a:spcAft>
              <a:buFont typeface="Arial"/>
              <a:buChar char="–"/>
            </a:pPr>
            <a:r>
              <a:rPr sz="1700" b="1" i="0">
                <a:solidFill>
                  <a:srgbClr val="1F3F77"/>
                </a:solidFill>
                <a:latin typeface="Times New Roman"/>
              </a:rPr>
              <a:t>[G1] </a:t>
            </a:r>
            <a:r>
              <a:rPr sz="1700" b="0" i="0">
                <a:solidFill>
                  <a:srgbClr val="000000"/>
                </a:solidFill>
                <a:latin typeface="Times New Roman"/>
              </a:rPr>
              <a:t>View household members</a:t>
            </a:r>
          </a:p>
          <a:p>
            <a:pPr marL="731520" indent="-320040">
              <a:spcAft>
                <a:spcPts val="200"/>
              </a:spcAft>
              <a:buFont typeface="Arial"/>
              <a:buChar char="–"/>
            </a:pPr>
            <a:r>
              <a:rPr sz="1700" b="1" i="0">
                <a:solidFill>
                  <a:srgbClr val="1F3F77"/>
                </a:solidFill>
                <a:latin typeface="Times New Roman"/>
              </a:rPr>
              <a:t>[G2] </a:t>
            </a:r>
            <a:r>
              <a:rPr sz="1700" b="0" i="0">
                <a:solidFill>
                  <a:srgbClr val="000000"/>
                </a:solidFill>
                <a:latin typeface="Times New Roman"/>
              </a:rPr>
              <a:t>See new messages appear live</a:t>
            </a:r>
          </a:p>
          <a:p>
            <a:pPr marL="731520" indent="-320040">
              <a:spcAft>
                <a:spcPts val="200"/>
              </a:spcAft>
              <a:buFont typeface="Arial"/>
              <a:buChar char="–"/>
            </a:pPr>
            <a:r>
              <a:rPr sz="1700" b="1" i="0">
                <a:solidFill>
                  <a:srgbClr val="1F3F77"/>
                </a:solidFill>
                <a:latin typeface="Times New Roman"/>
              </a:rPr>
              <a:t>[G2] </a:t>
            </a:r>
            <a:r>
              <a:rPr sz="1700" b="0" i="0">
                <a:solidFill>
                  <a:srgbClr val="000000"/>
                </a:solidFill>
                <a:latin typeface="Times New Roman"/>
              </a:rPr>
              <a:t>Edit and delete my own messages</a:t>
            </a:r>
          </a:p>
          <a:p>
            <a:pPr marL="731520" indent="-320040">
              <a:spcAft>
                <a:spcPts val="200"/>
              </a:spcAft>
              <a:buFont typeface="Arial"/>
              <a:buChar char="–"/>
            </a:pPr>
            <a:r>
              <a:rPr sz="1700" b="1" i="0">
                <a:solidFill>
                  <a:srgbClr val="1F3F77"/>
                </a:solidFill>
                <a:latin typeface="Times New Roman"/>
              </a:rPr>
              <a:t>[G5] </a:t>
            </a:r>
            <a:r>
              <a:rPr sz="1700" b="0" i="0">
                <a:solidFill>
                  <a:srgbClr val="000000"/>
                </a:solidFill>
                <a:latin typeface="Times New Roman"/>
              </a:rPr>
              <a:t>App navigation shell</a:t>
            </a:r>
          </a:p>
          <a:p>
            <a:pPr marL="0" indent="0">
              <a:spcAft>
                <a:spcPts val="200"/>
              </a:spcAft>
              <a:buNone/>
            </a:pPr>
            <a:r>
              <a:rPr sz="2200" b="1" i="0">
                <a:solidFill>
                  <a:srgbClr val="1F3F77"/>
                </a:solidFill>
                <a:latin typeface="Times New Roman"/>
              </a:rPr>
              <a:t>Spikes</a:t>
            </a:r>
          </a:p>
          <a:p>
            <a:pPr marL="731520" indent="-320040">
              <a:spcAft>
                <a:spcPts val="200"/>
              </a:spcAft>
              <a:buFont typeface="Arial"/>
              <a:buChar char="–"/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Chore rotation and expense-split logic, to prepare Sprint 3</a:t>
            </a:r>
          </a:p>
          <a:p>
            <a:pPr marL="0" indent="0">
              <a:spcAft>
                <a:spcPts val="200"/>
              </a:spcAft>
              <a:buNone/>
            </a:pPr>
            <a:r>
              <a:rPr sz="2200" b="1" i="0">
                <a:solidFill>
                  <a:srgbClr val="1F3F77"/>
                </a:solidFill>
                <a:latin typeface="Times New Roman"/>
              </a:rPr>
              <a:t>Infrastructure tasks</a:t>
            </a:r>
          </a:p>
          <a:p>
            <a:pPr marL="731520" indent="-320040">
              <a:spcAft>
                <a:spcPts val="200"/>
              </a:spcAft>
              <a:buFont typeface="Arial"/>
              <a:buChar char="–"/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CI pipeline: lint, type-check and unit tests on every pull request</a:t>
            </a:r>
          </a:p>
          <a:p>
            <a:pPr marL="731520" indent="-320040">
              <a:spcAft>
                <a:spcPts val="200"/>
              </a:spcAft>
              <a:buFont typeface="Arial"/>
              <a:buChar char="–"/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Protected screens and household-only access checks in the API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-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91440"/>
            <a:ext cx="2103120" cy="85039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45352"/>
            <a:ext cx="9144000" cy="612648"/>
          </a:xfrm>
          <a:prstGeom prst="rect">
            <a:avLst/>
          </a:prstGeom>
          <a:gradFill rotWithShape="1">
            <a:gsLst>
              <a:gs pos="0">
                <a:srgbClr val="1F3F77"/>
              </a:gs>
              <a:gs pos="100000">
                <a:srgbClr val="E4EBF5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6583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0" i="0">
                <a:solidFill>
                  <a:srgbClr val="000000"/>
                </a:solidFill>
                <a:latin typeface="Times New Roman"/>
              </a:rPr>
              <a:t>Sprint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sz="1800" b="0" i="0">
                <a:solidFill>
                  <a:srgbClr val="555555"/>
                </a:solidFill>
                <a:latin typeface="Times New Roman"/>
              </a:rPr>
              <a:t>Nov 9 to Nov 20</a:t>
            </a:r>
          </a:p>
          <a:p>
            <a:pPr marL="0" indent="0">
              <a:spcAft>
                <a:spcPts val="200"/>
              </a:spcAft>
              <a:buNone/>
            </a:pPr>
            <a:r>
              <a:rPr sz="2200" b="1" i="0">
                <a:solidFill>
                  <a:srgbClr val="1F3F77"/>
                </a:solidFill>
                <a:latin typeface="Times New Roman"/>
              </a:rPr>
              <a:t>User stories</a:t>
            </a:r>
          </a:p>
          <a:p>
            <a:pPr marL="731520" indent="-320040">
              <a:spcAft>
                <a:spcPts val="200"/>
              </a:spcAft>
              <a:buFont typeface="Arial"/>
              <a:buChar char="–"/>
            </a:pPr>
            <a:r>
              <a:rPr sz="1700" b="1" i="0">
                <a:solidFill>
                  <a:srgbClr val="1F3F77"/>
                </a:solidFill>
                <a:latin typeface="Times New Roman"/>
              </a:rPr>
              <a:t>[G3] </a:t>
            </a:r>
            <a:r>
              <a:rPr sz="1700" b="0" i="0">
                <a:solidFill>
                  <a:srgbClr val="000000"/>
                </a:solidFill>
                <a:latin typeface="Times New Roman"/>
              </a:rPr>
              <a:t>Create a chore</a:t>
            </a:r>
          </a:p>
          <a:p>
            <a:pPr marL="731520" indent="-320040">
              <a:spcAft>
                <a:spcPts val="200"/>
              </a:spcAft>
              <a:buFont typeface="Arial"/>
              <a:buChar char="–"/>
            </a:pPr>
            <a:r>
              <a:rPr sz="1700" b="1" i="0">
                <a:solidFill>
                  <a:srgbClr val="1F3F77"/>
                </a:solidFill>
                <a:latin typeface="Times New Roman"/>
              </a:rPr>
              <a:t>[G3] </a:t>
            </a:r>
            <a:r>
              <a:rPr sz="1700" b="0" i="0">
                <a:solidFill>
                  <a:srgbClr val="000000"/>
                </a:solidFill>
                <a:latin typeface="Times New Roman"/>
              </a:rPr>
              <a:t>Assign a chore</a:t>
            </a:r>
          </a:p>
          <a:p>
            <a:pPr marL="731520" indent="-320040">
              <a:spcAft>
                <a:spcPts val="200"/>
              </a:spcAft>
              <a:buFont typeface="Arial"/>
              <a:buChar char="–"/>
            </a:pPr>
            <a:r>
              <a:rPr sz="1700" b="1" i="0">
                <a:solidFill>
                  <a:srgbClr val="1F3F77"/>
                </a:solidFill>
                <a:latin typeface="Times New Roman"/>
              </a:rPr>
              <a:t>[G3] </a:t>
            </a:r>
            <a:r>
              <a:rPr sz="1700" b="0" i="0">
                <a:solidFill>
                  <a:srgbClr val="000000"/>
                </a:solidFill>
                <a:latin typeface="Times New Roman"/>
              </a:rPr>
              <a:t>Rotate chores automatically</a:t>
            </a:r>
          </a:p>
          <a:p>
            <a:pPr marL="731520" indent="-320040">
              <a:spcAft>
                <a:spcPts val="200"/>
              </a:spcAft>
              <a:buFont typeface="Arial"/>
              <a:buChar char="–"/>
            </a:pPr>
            <a:r>
              <a:rPr sz="1700" b="1" i="0">
                <a:solidFill>
                  <a:srgbClr val="1F3F77"/>
                </a:solidFill>
                <a:latin typeface="Times New Roman"/>
              </a:rPr>
              <a:t>[G3] </a:t>
            </a:r>
            <a:r>
              <a:rPr sz="1700" b="0" i="0">
                <a:solidFill>
                  <a:srgbClr val="000000"/>
                </a:solidFill>
                <a:latin typeface="Times New Roman"/>
              </a:rPr>
              <a:t>Mark a chore complete</a:t>
            </a:r>
          </a:p>
          <a:p>
            <a:pPr marL="731520" indent="-320040">
              <a:spcAft>
                <a:spcPts val="200"/>
              </a:spcAft>
              <a:buFont typeface="Arial"/>
              <a:buChar char="–"/>
            </a:pPr>
            <a:r>
              <a:rPr sz="1700" b="1" i="0">
                <a:solidFill>
                  <a:srgbClr val="1F3F77"/>
                </a:solidFill>
                <a:latin typeface="Times New Roman"/>
              </a:rPr>
              <a:t>[G4] </a:t>
            </a:r>
            <a:r>
              <a:rPr sz="1700" b="0" i="0">
                <a:solidFill>
                  <a:srgbClr val="000000"/>
                </a:solidFill>
                <a:latin typeface="Times New Roman"/>
              </a:rPr>
              <a:t>Add a shared expense</a:t>
            </a:r>
          </a:p>
          <a:p>
            <a:pPr marL="731520" indent="-320040">
              <a:spcAft>
                <a:spcPts val="200"/>
              </a:spcAft>
              <a:buFont typeface="Arial"/>
              <a:buChar char="–"/>
            </a:pPr>
            <a:r>
              <a:rPr sz="1700" b="1" i="0">
                <a:solidFill>
                  <a:srgbClr val="1F3F77"/>
                </a:solidFill>
                <a:latin typeface="Times New Roman"/>
              </a:rPr>
              <a:t>[G4] </a:t>
            </a:r>
            <a:r>
              <a:rPr sz="1700" b="0" i="0">
                <a:solidFill>
                  <a:srgbClr val="000000"/>
                </a:solidFill>
                <a:latin typeface="Times New Roman"/>
              </a:rPr>
              <a:t>Split an expense between roommates</a:t>
            </a:r>
          </a:p>
          <a:p>
            <a:pPr marL="0" indent="0">
              <a:spcAft>
                <a:spcPts val="200"/>
              </a:spcAft>
              <a:buNone/>
            </a:pPr>
            <a:r>
              <a:rPr sz="2200" b="1" i="0">
                <a:solidFill>
                  <a:srgbClr val="1F3F77"/>
                </a:solidFill>
                <a:latin typeface="Times New Roman"/>
              </a:rPr>
              <a:t>Spikes</a:t>
            </a:r>
          </a:p>
          <a:p>
            <a:pPr marL="731520" indent="-320040">
              <a:spcAft>
                <a:spcPts val="200"/>
              </a:spcAft>
              <a:buFont typeface="Arial"/>
              <a:buChar char="–"/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Push reminders with Expo Notifications (stretch)</a:t>
            </a:r>
          </a:p>
          <a:p>
            <a:pPr marL="0" indent="0">
              <a:spcAft>
                <a:spcPts val="200"/>
              </a:spcAft>
              <a:buNone/>
            </a:pPr>
            <a:r>
              <a:rPr sz="2200" b="1" i="0">
                <a:solidFill>
                  <a:srgbClr val="1F3F77"/>
                </a:solidFill>
                <a:latin typeface="Times New Roman"/>
              </a:rPr>
              <a:t>Infrastructure tasks</a:t>
            </a:r>
          </a:p>
          <a:p>
            <a:pPr marL="731520" indent="-320040">
              <a:spcAft>
                <a:spcPts val="200"/>
              </a:spcAft>
              <a:buFont typeface="Arial"/>
              <a:buChar char="–"/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Builds and deployment: phone builds, web version, hosted API and database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-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91440"/>
            <a:ext cx="2103120" cy="85039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45352"/>
            <a:ext cx="9144000" cy="612648"/>
          </a:xfrm>
          <a:prstGeom prst="rect">
            <a:avLst/>
          </a:prstGeom>
          <a:gradFill rotWithShape="1">
            <a:gsLst>
              <a:gs pos="0">
                <a:srgbClr val="1F3F77"/>
              </a:gs>
              <a:gs pos="100000">
                <a:srgbClr val="E4EBF5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6583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0" i="0">
                <a:solidFill>
                  <a:srgbClr val="000000"/>
                </a:solidFill>
                <a:latin typeface="Times New Roman"/>
              </a:rPr>
              <a:t>Sprint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sz="1800" b="0" i="0">
                <a:solidFill>
                  <a:srgbClr val="555555"/>
                </a:solidFill>
                <a:latin typeface="Times New Roman"/>
              </a:rPr>
              <a:t>Nov 23 to Dec 4</a:t>
            </a:r>
          </a:p>
          <a:p>
            <a:pPr marL="0" indent="0">
              <a:spcAft>
                <a:spcPts val="200"/>
              </a:spcAft>
              <a:buNone/>
            </a:pPr>
            <a:r>
              <a:rPr sz="2200" b="1" i="0">
                <a:solidFill>
                  <a:srgbClr val="1F3F77"/>
                </a:solidFill>
                <a:latin typeface="Times New Roman"/>
              </a:rPr>
              <a:t>User stories</a:t>
            </a:r>
          </a:p>
          <a:p>
            <a:pPr marL="731520" indent="-320040">
              <a:spcAft>
                <a:spcPts val="200"/>
              </a:spcAft>
              <a:buFont typeface="Arial"/>
              <a:buChar char="–"/>
            </a:pPr>
            <a:r>
              <a:rPr sz="1700" b="1" i="0">
                <a:solidFill>
                  <a:srgbClr val="1F3F77"/>
                </a:solidFill>
                <a:latin typeface="Times New Roman"/>
              </a:rPr>
              <a:t>[G4] </a:t>
            </a:r>
            <a:r>
              <a:rPr sz="1700" b="0" i="0">
                <a:solidFill>
                  <a:srgbClr val="000000"/>
                </a:solidFill>
                <a:latin typeface="Times New Roman"/>
              </a:rPr>
              <a:t>View balances: who owes whom</a:t>
            </a:r>
          </a:p>
          <a:p>
            <a:pPr marL="731520" indent="-320040">
              <a:spcAft>
                <a:spcPts val="200"/>
              </a:spcAft>
              <a:buFont typeface="Arial"/>
              <a:buChar char="–"/>
            </a:pPr>
            <a:r>
              <a:rPr sz="1700" b="1" i="0">
                <a:solidFill>
                  <a:srgbClr val="1F3F77"/>
                </a:solidFill>
                <a:latin typeface="Times New Roman"/>
              </a:rPr>
              <a:t>[G4] </a:t>
            </a:r>
            <a:r>
              <a:rPr sz="1700" b="0" i="0">
                <a:solidFill>
                  <a:srgbClr val="000000"/>
                </a:solidFill>
                <a:latin typeface="Times New Roman"/>
              </a:rPr>
              <a:t>Add items to the grocery list</a:t>
            </a:r>
          </a:p>
          <a:p>
            <a:pPr marL="731520" indent="-320040">
              <a:spcAft>
                <a:spcPts val="200"/>
              </a:spcAft>
              <a:buFont typeface="Arial"/>
              <a:buChar char="–"/>
            </a:pPr>
            <a:r>
              <a:rPr sz="1700" b="1" i="0">
                <a:solidFill>
                  <a:srgbClr val="1F3F77"/>
                </a:solidFill>
                <a:latin typeface="Times New Roman"/>
              </a:rPr>
              <a:t>[G4] </a:t>
            </a:r>
            <a:r>
              <a:rPr sz="1700" b="0" i="0">
                <a:solidFill>
                  <a:srgbClr val="000000"/>
                </a:solidFill>
                <a:latin typeface="Times New Roman"/>
              </a:rPr>
              <a:t>Check off purchased items</a:t>
            </a:r>
          </a:p>
          <a:p>
            <a:pPr marL="731520" indent="-320040">
              <a:spcAft>
                <a:spcPts val="200"/>
              </a:spcAft>
              <a:buFont typeface="Arial"/>
              <a:buChar char="–"/>
            </a:pPr>
            <a:r>
              <a:rPr sz="1700" b="1" i="0">
                <a:solidFill>
                  <a:srgbClr val="1F3F77"/>
                </a:solidFill>
                <a:latin typeface="Times New Roman"/>
              </a:rPr>
              <a:t>[G5] </a:t>
            </a:r>
            <a:r>
              <a:rPr sz="1700" b="0" i="0">
                <a:solidFill>
                  <a:srgbClr val="000000"/>
                </a:solidFill>
                <a:latin typeface="Times New Roman"/>
              </a:rPr>
              <a:t>Household dashboard</a:t>
            </a:r>
          </a:p>
          <a:p>
            <a:pPr marL="0" indent="0">
              <a:spcAft>
                <a:spcPts val="200"/>
              </a:spcAft>
              <a:buNone/>
            </a:pPr>
            <a:r>
              <a:rPr sz="2200" b="1" i="0">
                <a:solidFill>
                  <a:srgbClr val="1F3F77"/>
                </a:solidFill>
                <a:latin typeface="Times New Roman"/>
              </a:rPr>
              <a:t>Spikes</a:t>
            </a:r>
          </a:p>
          <a:p>
            <a:pPr marL="731520" indent="-320040">
              <a:spcAft>
                <a:spcPts val="200"/>
              </a:spcAft>
              <a:buFont typeface="Arial"/>
              <a:buChar char="–"/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None planned; stretch stories pulled in if ahead</a:t>
            </a:r>
          </a:p>
          <a:p>
            <a:pPr marL="0" indent="0">
              <a:spcAft>
                <a:spcPts val="200"/>
              </a:spcAft>
              <a:buNone/>
            </a:pPr>
            <a:r>
              <a:rPr sz="2200" b="1" i="0">
                <a:solidFill>
                  <a:srgbClr val="1F3F77"/>
                </a:solidFill>
                <a:latin typeface="Times New Roman"/>
              </a:rPr>
              <a:t>Infrastructure tasks</a:t>
            </a:r>
          </a:p>
          <a:p>
            <a:pPr marL="731520" indent="-320040">
              <a:spcAft>
                <a:spcPts val="200"/>
              </a:spcAft>
              <a:buFont typeface="Arial"/>
              <a:buChar char="–"/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Usability test and bug bash</a:t>
            </a:r>
          </a:p>
          <a:p>
            <a:pPr marL="731520" indent="-320040">
              <a:spcAft>
                <a:spcPts val="200"/>
              </a:spcAft>
              <a:buFont typeface="Arial"/>
              <a:buChar char="–"/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Final release and demo preparation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-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91440"/>
            <a:ext cx="2103120" cy="85039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45352"/>
            <a:ext cx="9144000" cy="612648"/>
          </a:xfrm>
          <a:prstGeom prst="rect">
            <a:avLst/>
          </a:prstGeom>
          <a:gradFill rotWithShape="1">
            <a:gsLst>
              <a:gs pos="0">
                <a:srgbClr val="1F3F77"/>
              </a:gs>
              <a:gs pos="100000">
                <a:srgbClr val="E4EBF5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6583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0" i="0">
                <a:solidFill>
                  <a:srgbClr val="000000"/>
                </a:solidFill>
                <a:latin typeface="Times New Roman"/>
              </a:rPr>
              <a:t>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2560320" cy="1371600"/>
          </a:xfrm>
          <a:prstGeom prst="roundRect">
            <a:avLst/>
          </a:prstGeom>
          <a:solidFill>
            <a:srgbClr val="E4EBF5"/>
          </a:solidFill>
          <a:ln w="19050">
            <a:solidFill>
              <a:srgbClr val="1F3F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1F3F77"/>
                </a:solidFill>
                <a:latin typeface="Times New Roman"/>
              </a:rPr>
              <a:t>Roomie app</a:t>
            </a:r>
          </a:p>
          <a:p>
            <a:pPr algn="ctr"/>
            <a:r>
              <a:rPr sz="1400" b="0" i="0">
                <a:solidFill>
                  <a:srgbClr val="000000"/>
                </a:solidFill>
                <a:latin typeface="Times New Roman"/>
              </a:rPr>
              <a:t>React Native + Expo</a:t>
            </a:r>
          </a:p>
          <a:p>
            <a:pPr algn="ctr"/>
            <a:r>
              <a:rPr sz="1400" b="0" i="0">
                <a:solidFill>
                  <a:srgbClr val="000000"/>
                </a:solidFill>
                <a:latin typeface="Times New Roman"/>
              </a:rPr>
              <a:t>iOS, Android and web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371600"/>
            <a:ext cx="2743200" cy="1371600"/>
          </a:xfrm>
          <a:prstGeom prst="roundRect">
            <a:avLst/>
          </a:prstGeom>
          <a:solidFill>
            <a:srgbClr val="E4EBF5"/>
          </a:solidFill>
          <a:ln w="19050">
            <a:solidFill>
              <a:srgbClr val="1F3F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1F3F77"/>
                </a:solidFill>
                <a:latin typeface="Times New Roman"/>
              </a:rPr>
              <a:t>Firebase Auth</a:t>
            </a:r>
          </a:p>
          <a:p>
            <a:pPr algn="ctr"/>
            <a:r>
              <a:rPr sz="1400" b="0" i="0">
                <a:solidFill>
                  <a:srgbClr val="000000"/>
                </a:solidFill>
                <a:latin typeface="Times New Roman"/>
              </a:rPr>
              <a:t>Sign-in, emails and passwords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4114800"/>
            <a:ext cx="2560320" cy="1463040"/>
          </a:xfrm>
          <a:prstGeom prst="roundRect">
            <a:avLst/>
          </a:prstGeom>
          <a:solidFill>
            <a:srgbClr val="E4EBF5"/>
          </a:solidFill>
          <a:ln w="19050">
            <a:solidFill>
              <a:srgbClr val="1F3F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1F3F77"/>
                </a:solidFill>
                <a:latin typeface="Times New Roman"/>
              </a:rPr>
              <a:t>Node.js API</a:t>
            </a:r>
          </a:p>
          <a:p>
            <a:pPr algn="ctr"/>
            <a:r>
              <a:rPr sz="1400" b="0" i="0">
                <a:solidFill>
                  <a:srgbClr val="000000"/>
                </a:solidFill>
                <a:latin typeface="Times New Roman"/>
              </a:rPr>
              <a:t>Express</a:t>
            </a:r>
          </a:p>
          <a:p>
            <a:pPr algn="ctr"/>
            <a:r>
              <a:rPr sz="1400" b="0" i="0">
                <a:solidFill>
                  <a:srgbClr val="000000"/>
                </a:solidFill>
                <a:latin typeface="Times New Roman"/>
              </a:rPr>
              <a:t>verifies token, checks household membership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4114800"/>
            <a:ext cx="2743200" cy="1463040"/>
          </a:xfrm>
          <a:prstGeom prst="roundRect">
            <a:avLst/>
          </a:prstGeom>
          <a:solidFill>
            <a:srgbClr val="E4EBF5"/>
          </a:solidFill>
          <a:ln w="19050">
            <a:solidFill>
              <a:srgbClr val="1F3F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1F3F77"/>
                </a:solidFill>
                <a:latin typeface="Times New Roman"/>
              </a:rPr>
              <a:t>PostgreSQL</a:t>
            </a:r>
          </a:p>
          <a:p>
            <a:pPr algn="ctr"/>
            <a:r>
              <a:rPr sz="1400" b="0" i="0">
                <a:solidFill>
                  <a:srgbClr val="000000"/>
                </a:solidFill>
                <a:latin typeface="Times New Roman"/>
              </a:rPr>
              <a:t>users, households, posts, chores, expenses</a:t>
            </a:r>
          </a:p>
          <a:p>
            <a:pPr algn="ctr"/>
            <a:r>
              <a:rPr sz="1400" b="0" i="0">
                <a:solidFill>
                  <a:srgbClr val="000000"/>
                </a:solidFill>
                <a:latin typeface="Times New Roman"/>
              </a:rPr>
              <a:t>local now, Neon later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26080" y="1874519"/>
            <a:ext cx="310896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83280" y="14173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Times New Roman"/>
              </a:rPr>
              <a:t>1. sign in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926080" y="2331720"/>
            <a:ext cx="310896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383280" y="23317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Times New Roman"/>
              </a:rPr>
              <a:t>2. ID token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45920" y="2743200"/>
            <a:ext cx="0" cy="137160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737360" y="32004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Times New Roman"/>
              </a:rPr>
              <a:t>3. HTTPS + Bearer token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26080" y="4846320"/>
            <a:ext cx="310896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383280" y="4389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Times New Roman"/>
              </a:rPr>
              <a:t>4. parameterized 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66928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0">
                <a:solidFill>
                  <a:srgbClr val="555555"/>
                </a:solidFill>
                <a:latin typeface="Times New Roman"/>
              </a:rPr>
              <a:t>The app never talks to the database directly, and Postgres never stores passwords.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-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91440"/>
            <a:ext cx="2103120" cy="85039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45352"/>
            <a:ext cx="9144000" cy="612648"/>
          </a:xfrm>
          <a:prstGeom prst="rect">
            <a:avLst/>
          </a:prstGeom>
          <a:gradFill rotWithShape="1">
            <a:gsLst>
              <a:gs pos="0">
                <a:srgbClr val="1F3F77"/>
              </a:gs>
              <a:gs pos="100000">
                <a:srgbClr val="E4EBF5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6583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0" i="0">
                <a:solidFill>
                  <a:srgbClr val="000000"/>
                </a:solidFill>
                <a:latin typeface="Times New Roman"/>
              </a:rPr>
              <a:t>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</a:rPr>
              <a:t>JavaScript / TypeScript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programming languages, front to back</a:t>
            </a:r>
          </a:p>
          <a:p>
            <a:pPr marL="0" indent="0">
              <a:spcAft>
                <a:spcPts val="600"/>
              </a:spcAft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</a:rPr>
              <a:t>React Native + Expo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one app for iOS, Android and web</a:t>
            </a:r>
          </a:p>
          <a:p>
            <a:pPr marL="0" indent="0">
              <a:spcAft>
                <a:spcPts val="600"/>
              </a:spcAft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</a:rPr>
              <a:t>Node.js + Express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backend REST API</a:t>
            </a:r>
          </a:p>
          <a:p>
            <a:pPr marL="0" indent="0">
              <a:spcAft>
                <a:spcPts val="600"/>
              </a:spcAft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</a:rPr>
              <a:t>PostgreSQL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database; numbered SQL migrations run with psql</a:t>
            </a:r>
          </a:p>
          <a:p>
            <a:pPr marL="0" indent="0">
              <a:spcAft>
                <a:spcPts val="600"/>
              </a:spcAft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</a:rPr>
              <a:t>Firebase Authentication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sign-up, login, password reset</a:t>
            </a:r>
          </a:p>
          <a:p>
            <a:pPr marL="0" indent="0">
              <a:spcAft>
                <a:spcPts val="600"/>
              </a:spcAft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</a:rPr>
              <a:t>Neon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hosted Postgres for the deployed app</a:t>
            </a:r>
          </a:p>
          <a:p>
            <a:pPr marL="0" indent="0">
              <a:spcAft>
                <a:spcPts val="600"/>
              </a:spcAft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</a:rPr>
              <a:t>Jest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unit tests for rotation and balance logic</a:t>
            </a:r>
          </a:p>
          <a:p>
            <a:pPr marL="0" indent="0">
              <a:spcAft>
                <a:spcPts val="600"/>
              </a:spcAft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</a:rPr>
              <a:t>GitHub + GitHub Actions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pull requests, code review and CI</a:t>
            </a:r>
          </a:p>
          <a:p>
            <a:pPr marL="0" indent="0">
              <a:spcAft>
                <a:spcPts val="600"/>
              </a:spcAft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</a:rPr>
              <a:t>Jira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scrum board, sprints and backlog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-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91440"/>
            <a:ext cx="2103120" cy="85039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45352"/>
            <a:ext cx="9144000" cy="612648"/>
          </a:xfrm>
          <a:prstGeom prst="rect">
            <a:avLst/>
          </a:prstGeom>
          <a:gradFill rotWithShape="1">
            <a:gsLst>
              <a:gs pos="0">
                <a:srgbClr val="1F3F77"/>
              </a:gs>
              <a:gs pos="100000">
                <a:srgbClr val="E4EBF5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6583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0" i="0">
                <a:solidFill>
                  <a:srgbClr val="000000"/>
                </a:solidFill>
                <a:latin typeface="Times New Roman"/>
              </a:rPr>
              <a:t>Challenges/Risks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</a:rPr>
              <a:t>Unfamiliar technology</a:t>
            </a:r>
          </a:p>
          <a:p>
            <a:pPr marL="411480" indent="0">
              <a:spcAft>
                <a:spcPts val="300"/>
              </a:spcAft>
              <a:buNone/>
            </a:pPr>
            <a:r>
              <a:rPr sz="1500" b="0" i="0">
                <a:solidFill>
                  <a:srgbClr val="555555"/>
                </a:solidFill>
                <a:latin typeface="Times New Roman"/>
              </a:rPr>
              <a:t>most of the team is new to React Native and Expo; Sprint 1 spike</a:t>
            </a:r>
          </a:p>
          <a:p>
            <a:pPr marL="0" indent="0">
              <a:spcAft>
                <a:spcPts val="300"/>
              </a:spcAft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</a:rPr>
              <a:t>Security across two systems</a:t>
            </a:r>
          </a:p>
          <a:p>
            <a:pPr marL="411480" indent="0">
              <a:spcAft>
                <a:spcPts val="300"/>
              </a:spcAft>
              <a:buNone/>
            </a:pPr>
            <a:r>
              <a:rPr sz="1500" b="0" i="0">
                <a:solidFill>
                  <a:srgbClr val="555555"/>
                </a:solidFill>
                <a:latin typeface="Times New Roman"/>
              </a:rPr>
              <a:t>Firebase sign-in plus our own API; every route must verify the token and household</a:t>
            </a:r>
          </a:p>
          <a:p>
            <a:pPr marL="0" indent="0">
              <a:spcAft>
                <a:spcPts val="300"/>
              </a:spcAft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</a:rPr>
              <a:t>Money math</a:t>
            </a:r>
          </a:p>
          <a:p>
            <a:pPr marL="411480" indent="0">
              <a:spcAft>
                <a:spcPts val="300"/>
              </a:spcAft>
              <a:buNone/>
            </a:pPr>
            <a:r>
              <a:rPr sz="1500" b="0" i="0">
                <a:solidFill>
                  <a:srgbClr val="555555"/>
                </a:solidFill>
                <a:latin typeface="Times New Roman"/>
              </a:rPr>
              <a:t>splits, rounding and balances must always add up; unit tests</a:t>
            </a:r>
          </a:p>
          <a:p>
            <a:pPr marL="0" indent="0">
              <a:spcAft>
                <a:spcPts val="300"/>
              </a:spcAft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</a:rPr>
              <a:t>Fair rotation</a:t>
            </a:r>
          </a:p>
          <a:p>
            <a:pPr marL="411480" indent="0">
              <a:spcAft>
                <a:spcPts val="300"/>
              </a:spcAft>
              <a:buNone/>
            </a:pPr>
            <a:r>
              <a:rPr sz="1500" b="0" i="0">
                <a:solidFill>
                  <a:srgbClr val="555555"/>
                </a:solidFill>
                <a:latin typeface="Times New Roman"/>
              </a:rPr>
              <a:t>edge cases when roommates join, leave or skip a chore</a:t>
            </a:r>
          </a:p>
          <a:p>
            <a:pPr marL="0" indent="0">
              <a:spcAft>
                <a:spcPts val="300"/>
              </a:spcAft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</a:rPr>
              <a:t>Broad feature set</a:t>
            </a:r>
          </a:p>
          <a:p>
            <a:pPr marL="411480" indent="0">
              <a:spcAft>
                <a:spcPts val="300"/>
              </a:spcAft>
              <a:buNone/>
            </a:pPr>
            <a:r>
              <a:rPr sz="1500" b="0" i="0">
                <a:solidFill>
                  <a:srgbClr val="555555"/>
                </a:solidFill>
                <a:latin typeface="Times New Roman"/>
              </a:rPr>
              <a:t>five feature areas in four sprints; MVP first, extras in backlog</a:t>
            </a:r>
          </a:p>
          <a:p>
            <a:pPr marL="0" indent="0">
              <a:spcAft>
                <a:spcPts val="300"/>
              </a:spcAft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</a:rPr>
              <a:t>Team coordination</a:t>
            </a:r>
          </a:p>
          <a:p>
            <a:pPr marL="411480" indent="0">
              <a:spcAft>
                <a:spcPts val="300"/>
              </a:spcAft>
              <a:buNone/>
            </a:pPr>
            <a:r>
              <a:rPr sz="1500" b="0" i="0">
                <a:solidFill>
                  <a:srgbClr val="555555"/>
                </a:solidFill>
                <a:latin typeface="Times New Roman"/>
              </a:rPr>
              <a:t>shared main branch and schema changes; PR reviews and migrations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-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91440"/>
            <a:ext cx="2103120" cy="85039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45352"/>
            <a:ext cx="9144000" cy="612648"/>
          </a:xfrm>
          <a:prstGeom prst="rect">
            <a:avLst/>
          </a:prstGeom>
          <a:gradFill rotWithShape="1">
            <a:gsLst>
              <a:gs pos="0">
                <a:srgbClr val="1F3F77"/>
              </a:gs>
              <a:gs pos="100000">
                <a:srgbClr val="E4EBF5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6583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 i="0">
                <a:solidFill>
                  <a:srgbClr val="000000"/>
                </a:solidFill>
                <a:latin typeface="Times New Roman"/>
              </a:rPr>
              <a:t>Minimum Viable Product (MVP)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Roommates can sign up, join one household, talk on a shared board, rotate chores, and split expenses so everyone can see who owes whom.</a:t>
            </a:r>
          </a:p>
          <a:p>
            <a:pPr marL="0" indent="0">
              <a:spcAft>
                <a:spcPts val="500"/>
              </a:spcAft>
              <a:buNone/>
            </a:pPr>
            <a:r>
              <a:rPr sz="2200" b="1" i="0">
                <a:solidFill>
                  <a:srgbClr val="1F3F77"/>
                </a:solidFill>
                <a:latin typeface="Times New Roman"/>
              </a:rPr>
              <a:t>Minimum user stories</a:t>
            </a:r>
          </a:p>
          <a:p>
            <a:pPr marL="731520" indent="-320040">
              <a:spcAft>
                <a:spcPts val="500"/>
              </a:spcAft>
              <a:buFont typeface="Arial"/>
              <a:buChar char="–"/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As a new user, I want to sign up and log in so I can use Roomie</a:t>
            </a:r>
          </a:p>
          <a:p>
            <a:pPr marL="731520" indent="-320040">
              <a:spcAft>
                <a:spcPts val="500"/>
              </a:spcAft>
              <a:buFont typeface="Arial"/>
              <a:buChar char="–"/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As a user, I want to create a household and invite my roommates</a:t>
            </a:r>
          </a:p>
          <a:p>
            <a:pPr marL="731520" indent="-320040">
              <a:spcAft>
                <a:spcPts val="500"/>
              </a:spcAft>
              <a:buFont typeface="Arial"/>
              <a:buChar char="–"/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As a roommate, I want to join my household from an invite link</a:t>
            </a:r>
          </a:p>
          <a:p>
            <a:pPr marL="731520" indent="-320040">
              <a:spcAft>
                <a:spcPts val="500"/>
              </a:spcAft>
              <a:buFont typeface="Arial"/>
              <a:buChar char="–"/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As a roommate, I want to post and read messages on our household board</a:t>
            </a:r>
          </a:p>
          <a:p>
            <a:pPr marL="731520" indent="-320040">
              <a:spcAft>
                <a:spcPts val="500"/>
              </a:spcAft>
              <a:buFont typeface="Arial"/>
              <a:buChar char="–"/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As a roommate, I want to create chores that rotate automatically</a:t>
            </a:r>
          </a:p>
          <a:p>
            <a:pPr marL="731520" indent="-320040">
              <a:spcAft>
                <a:spcPts val="500"/>
              </a:spcAft>
              <a:buFont typeface="Arial"/>
              <a:buChar char="–"/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As a roommate, I want to mark a chore complete</a:t>
            </a:r>
          </a:p>
          <a:p>
            <a:pPr marL="731520" indent="-320040">
              <a:spcAft>
                <a:spcPts val="500"/>
              </a:spcAft>
              <a:buFont typeface="Arial"/>
              <a:buChar char="–"/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As a roommate, I want to add a shared expense and split it</a:t>
            </a:r>
          </a:p>
          <a:p>
            <a:pPr marL="731520" indent="-320040">
              <a:spcAft>
                <a:spcPts val="500"/>
              </a:spcAft>
              <a:buFont typeface="Arial"/>
              <a:buChar char="–"/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As a roommate, I want to see who owes whom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